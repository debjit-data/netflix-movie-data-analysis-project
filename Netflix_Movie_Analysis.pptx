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tflix Analysis" id="{fb8f796b-d419-47d9-d546-58916b04788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Top genres by number of titles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Drama</c:v>
                  </c:pt>
                  <c:pt idx="1">
                    <c:v>Comedy</c:v>
                  </c:pt>
                  <c:pt idx="2">
                    <c:v>Action</c:v>
                  </c:pt>
                  <c:pt idx="3">
                    <c:v>Thriller</c:v>
                  </c:pt>
                  <c:pt idx="4">
                    <c:v>Adventure</c:v>
                  </c:pt>
                  <c:pt idx="5">
                    <c:v>Romance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3715</c:v>
                </c:pt>
                <c:pt idx="1">
                  <c:v>3000</c:v>
                </c:pt>
                <c:pt idx="2">
                  <c:v>2650</c:v>
                </c:pt>
                <c:pt idx="3">
                  <c:v>2480</c:v>
                </c:pt>
                <c:pt idx="4">
                  <c:v>1820</c:v>
                </c:pt>
                <c:pt idx="5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</a:rPr>
              <a:t>NOW SHOWING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Movie Popularity &amp; Genre Analysis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Netflix-style data story  |  9,827 titles</a:t>
            </a:r>
            <a:endParaRPr lang="en-US" sz="1600" dirty="0"/>
          </a:p>
        </p:txBody>
      </p:sp>
      <p:sp>
        <p:nvSpPr>
          <p:cNvPr id="5" name="Tools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Pandas  ·  Matplotlib  ·  Seaborn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The Plot: Problem Statement</a:t>
            </a:r>
            <a:endParaRPr lang="en-US" sz="2600" dirty="0"/>
          </a:p>
        </p:txBody>
      </p:sp>
      <p:sp>
        <p:nvSpPr>
          <p:cNvPr id="3" name="Problem"/>
          <p:cNvSpPr txBox="1"/>
          <p:nvPr/>
        </p:nvSpPr>
        <p:spPr>
          <a:xfrm>
            <a:off x="54864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With thousands of titles competing for attention, which genres dominate, which movies break out, and how do audiences rate them?</a:t>
            </a:r>
            <a:endParaRPr lang="en-US" sz="2200" dirty="0"/>
          </a:p>
        </p:txBody>
      </p:sp>
      <p:sp>
        <p:nvSpPr>
          <p:cNvPr id="4" name="Question card 1"/>
          <p:cNvSpPr/>
          <p:nvPr/>
        </p:nvSpPr>
        <p:spPr>
          <a:xfrm>
            <a:off x="54864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Question 1"/>
          <p:cNvSpPr txBox="1"/>
          <p:nvPr/>
        </p:nvSpPr>
        <p:spPr>
          <a:xfrm>
            <a:off x="73152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Which genre appears most often?</a:t>
            </a:r>
            <a:endParaRPr lang="en-US" sz="1400" dirty="0"/>
          </a:p>
        </p:txBody>
      </p:sp>
      <p:sp>
        <p:nvSpPr>
          <p:cNvPr id="6" name="Question card 2"/>
          <p:cNvSpPr/>
          <p:nvPr/>
        </p:nvSpPr>
        <p:spPr>
          <a:xfrm>
            <a:off x="324612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Question 2"/>
          <p:cNvSpPr txBox="1"/>
          <p:nvPr/>
        </p:nvSpPr>
        <p:spPr>
          <a:xfrm>
            <a:off x="342900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Which movies are the most and least popular?</a:t>
            </a:r>
            <a:endParaRPr lang="en-US" sz="1400" dirty="0"/>
          </a:p>
        </p:txBody>
      </p:sp>
      <p:sp>
        <p:nvSpPr>
          <p:cNvPr id="8" name="Question card 3"/>
          <p:cNvSpPr/>
          <p:nvPr/>
        </p:nvSpPr>
        <p:spPr>
          <a:xfrm>
            <a:off x="594360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Question 3"/>
          <p:cNvSpPr txBox="1"/>
          <p:nvPr/>
        </p:nvSpPr>
        <p:spPr>
          <a:xfrm>
            <a:off x="612648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are ratings distributed?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Behind the Scenes: Data Prep</a:t>
            </a:r>
            <a:endParaRPr lang="en-US" sz="2600" dirty="0"/>
          </a:p>
        </p:txBody>
      </p:sp>
      <p:sp>
        <p:nvSpPr>
          <p:cNvPr id="3" name="Prep card 01"/>
          <p:cNvSpPr/>
          <p:nvPr/>
        </p:nvSpPr>
        <p:spPr>
          <a:xfrm>
            <a:off x="54864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rep number 01"/>
          <p:cNvSpPr txBox="1"/>
          <p:nvPr/>
        </p:nvSpPr>
        <p:spPr>
          <a:xfrm>
            <a:off x="73152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Prep title 01"/>
          <p:cNvSpPr txBox="1"/>
          <p:nvPr/>
        </p:nvSpPr>
        <p:spPr>
          <a:xfrm>
            <a:off x="7315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Clean Check</a:t>
            </a:r>
            <a:endParaRPr lang="en-US" sz="1500" dirty="0"/>
          </a:p>
        </p:txBody>
      </p:sp>
      <p:sp>
        <p:nvSpPr>
          <p:cNvPr id="6" name="Prep text 01"/>
          <p:cNvSpPr txBox="1"/>
          <p:nvPr/>
        </p:nvSpPr>
        <p:spPr>
          <a:xfrm>
            <a:off x="73152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9,827 rows, no nulls, no duplicates</a:t>
            </a:r>
            <a:endParaRPr lang="en-US" sz="1200" dirty="0"/>
          </a:p>
        </p:txBody>
      </p:sp>
      <p:sp>
        <p:nvSpPr>
          <p:cNvPr id="7" name="Prep card 02"/>
          <p:cNvSpPr/>
          <p:nvPr/>
        </p:nvSpPr>
        <p:spPr>
          <a:xfrm>
            <a:off x="256032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Prep number 02"/>
          <p:cNvSpPr txBox="1"/>
          <p:nvPr/>
        </p:nvSpPr>
        <p:spPr>
          <a:xfrm>
            <a:off x="274320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Prep title 02"/>
          <p:cNvSpPr txBox="1"/>
          <p:nvPr/>
        </p:nvSpPr>
        <p:spPr>
          <a:xfrm>
            <a:off x="27432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Dates to Years</a:t>
            </a:r>
            <a:endParaRPr lang="en-US" sz="1500" dirty="0"/>
          </a:p>
        </p:txBody>
      </p:sp>
      <p:sp>
        <p:nvSpPr>
          <p:cNvPr id="10" name="Prep text 02"/>
          <p:cNvSpPr txBox="1"/>
          <p:nvPr/>
        </p:nvSpPr>
        <p:spPr>
          <a:xfrm>
            <a:off x="274320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Release dates converted to datetime, year extracted</a:t>
            </a:r>
            <a:endParaRPr lang="en-US" sz="1200" dirty="0"/>
          </a:p>
        </p:txBody>
      </p:sp>
      <p:sp>
        <p:nvSpPr>
          <p:cNvPr id="11" name="Prep card 03"/>
          <p:cNvSpPr/>
          <p:nvPr/>
        </p:nvSpPr>
        <p:spPr>
          <a:xfrm>
            <a:off x="457200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Prep number 03"/>
          <p:cNvSpPr txBox="1"/>
          <p:nvPr/>
        </p:nvSpPr>
        <p:spPr>
          <a:xfrm>
            <a:off x="47548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Prep title 03"/>
          <p:cNvSpPr txBox="1"/>
          <p:nvPr/>
        </p:nvSpPr>
        <p:spPr>
          <a:xfrm>
            <a:off x="475488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Rating Tiers</a:t>
            </a:r>
            <a:endParaRPr lang="en-US" sz="1500" dirty="0"/>
          </a:p>
        </p:txBody>
      </p:sp>
      <p:sp>
        <p:nvSpPr>
          <p:cNvPr id="14" name="Prep text 03"/>
          <p:cNvSpPr txBox="1"/>
          <p:nvPr/>
        </p:nvSpPr>
        <p:spPr>
          <a:xfrm>
            <a:off x="475488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Vote average split into 4 tiers by quartile</a:t>
            </a:r>
            <a:endParaRPr lang="en-US" sz="1200" dirty="0"/>
          </a:p>
        </p:txBody>
      </p:sp>
      <p:sp>
        <p:nvSpPr>
          <p:cNvPr id="15" name="Prep card 04"/>
          <p:cNvSpPr/>
          <p:nvPr/>
        </p:nvSpPr>
        <p:spPr>
          <a:xfrm>
            <a:off x="658368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Prep number 04"/>
          <p:cNvSpPr txBox="1"/>
          <p:nvPr/>
        </p:nvSpPr>
        <p:spPr>
          <a:xfrm>
            <a:off x="67665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17" name="Prep title 04"/>
          <p:cNvSpPr txBox="1"/>
          <p:nvPr/>
        </p:nvSpPr>
        <p:spPr>
          <a:xfrm>
            <a:off x="676656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Genre Split</a:t>
            </a:r>
            <a:endParaRPr lang="en-US" sz="1500" dirty="0"/>
          </a:p>
        </p:txBody>
      </p:sp>
      <p:sp>
        <p:nvSpPr>
          <p:cNvPr id="18" name="Prep text 04"/>
          <p:cNvSpPr txBox="1"/>
          <p:nvPr/>
        </p:nvSpPr>
        <p:spPr>
          <a:xfrm>
            <a:off x="6766560" y="28346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Multi-genre rows exploded: 25,552 rows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Drama Steals the Show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rama count"/>
          <p:cNvSpPr txBox="1"/>
          <p:nvPr/>
        </p:nvSpPr>
        <p:spPr>
          <a:xfrm>
            <a:off x="612648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3,715</a:t>
            </a:r>
            <a:endParaRPr lang="en-US" sz="5400" dirty="0"/>
          </a:p>
        </p:txBody>
      </p:sp>
      <p:sp>
        <p:nvSpPr>
          <p:cNvPr id="5" name="Drama label"/>
          <p:cNvSpPr txBox="1"/>
          <p:nvPr/>
        </p:nvSpPr>
        <p:spPr>
          <a:xfrm>
            <a:off x="612648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Drama titles: the most frequent of 19 genres</a:t>
            </a:r>
            <a:endParaRPr lang="en-US" sz="1500" dirty="0"/>
          </a:p>
        </p:txBody>
      </p:sp>
      <p:sp>
        <p:nvSpPr>
          <p:cNvPr id="6" name="Runners-up"/>
          <p:cNvSpPr txBox="1"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Comedy, Action and Thriller follow behind.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Spotlight: Popularity Extremes</a:t>
            </a:r>
            <a:endParaRPr lang="en-US" sz="2600" dirty="0"/>
          </a:p>
        </p:txBody>
      </p:sp>
      <p:sp>
        <p:nvSpPr>
          <p:cNvPr id="3" name="Spotlight card 1"/>
          <p:cNvSpPr/>
          <p:nvPr/>
        </p:nvSpPr>
        <p:spPr>
          <a:xfrm>
            <a:off x="548640" y="1371600"/>
            <a:ext cx="384048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potlight label 1"/>
          <p:cNvSpPr txBox="1"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MOST POPULAR</a:t>
            </a:r>
            <a:endParaRPr lang="en-US" sz="1300" dirty="0"/>
          </a:p>
        </p:txBody>
      </p:sp>
      <p:sp>
        <p:nvSpPr>
          <p:cNvPr id="5" name="Spotlight title 1"/>
          <p:cNvSpPr txBox="1"/>
          <p:nvPr/>
        </p:nvSpPr>
        <p:spPr>
          <a:xfrm>
            <a:off x="82296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Spider-Man: No Way Home</a:t>
            </a:r>
            <a:endParaRPr lang="en-US" sz="1900" dirty="0"/>
          </a:p>
        </p:txBody>
      </p:sp>
      <p:sp>
        <p:nvSpPr>
          <p:cNvPr id="6" name="Spotlight stats 1"/>
          <p:cNvSpPr txBox="1"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Popularity 5,083.9  |  8,940 votes  |  2021</a:t>
            </a:r>
            <a:endParaRPr lang="en-US" sz="1200" dirty="0"/>
          </a:p>
        </p:txBody>
      </p:sp>
      <p:sp>
        <p:nvSpPr>
          <p:cNvPr id="7" name="Spotlight card 2"/>
          <p:cNvSpPr/>
          <p:nvPr/>
        </p:nvSpPr>
        <p:spPr>
          <a:xfrm>
            <a:off x="4572000" y="1371600"/>
            <a:ext cx="384048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Spotlight label 2"/>
          <p:cNvSpPr txBox="1"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LEAST POPULAR</a:t>
            </a:r>
            <a:endParaRPr lang="en-US" sz="1300" dirty="0"/>
          </a:p>
        </p:txBody>
      </p:sp>
      <p:sp>
        <p:nvSpPr>
          <p:cNvPr id="9" name="Spotlight title 2"/>
          <p:cNvSpPr txBox="1"/>
          <p:nvPr/>
        </p:nvSpPr>
        <p:spPr>
          <a:xfrm>
            <a:off x="484632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The United States vs. Billie Holiday (2021) and Threads (1984)</a:t>
            </a:r>
            <a:endParaRPr lang="en-US" sz="1900" dirty="0"/>
          </a:p>
        </p:txBody>
      </p:sp>
      <p:sp>
        <p:nvSpPr>
          <p:cNvPr id="10" name="Spotlight stats 2"/>
          <p:cNvSpPr txBox="1"/>
          <p:nvPr/>
        </p:nvSpPr>
        <p:spPr>
          <a:xfrm>
            <a:off x="484632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Popularity 13.4 for both</a:t>
            </a:r>
            <a:endParaRPr lang="en-US" sz="1200" dirty="0"/>
          </a:p>
        </p:txBody>
      </p:sp>
      <p:sp>
        <p:nvSpPr>
          <p:cNvPr id="11" name="Skew note"/>
          <p:cNvSpPr txBox="1"/>
          <p:nvPr/>
        </p:nvSpPr>
        <p:spPr>
          <a:xfrm>
            <a:off x="54864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Median popularity is about 21, so a handful of blockbusters skew the whole distribution.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3" name="Takeaway number 1"/>
          <p:cNvSpPr txBox="1"/>
          <p:nvPr/>
        </p:nvSpPr>
        <p:spPr>
          <a:xfrm>
            <a:off x="548640" y="1371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akeaway 1"/>
          <p:cNvSpPr txBox="1"/>
          <p:nvPr/>
        </p:nvSpPr>
        <p:spPr>
          <a:xfrm>
            <a:off x="137160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Drama leads the catalog, with Comedy, Action and Thriller close behind.</a:t>
            </a:r>
            <a:endParaRPr lang="en-US" sz="1700" dirty="0"/>
          </a:p>
        </p:txBody>
      </p:sp>
      <p:sp>
        <p:nvSpPr>
          <p:cNvPr id="5" name="Takeaway number 2"/>
          <p:cNvSpPr txBox="1"/>
          <p:nvPr/>
        </p:nvSpPr>
        <p:spPr>
          <a:xfrm>
            <a:off x="54864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6" name="Takeaway 2"/>
          <p:cNvSpPr txBox="1"/>
          <p:nvPr/>
        </p:nvSpPr>
        <p:spPr>
          <a:xfrm>
            <a:off x="1371600" y="2377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Popularity is heavily skewed: the median is about 21, the top title is above 5,000.</a:t>
            </a:r>
            <a:endParaRPr lang="en-US" sz="1700" dirty="0"/>
          </a:p>
        </p:txBody>
      </p:sp>
      <p:sp>
        <p:nvSpPr>
          <p:cNvPr id="7" name="Takeaway number 3"/>
          <p:cNvSpPr txBox="1"/>
          <p:nvPr/>
        </p:nvSpPr>
        <p:spPr>
          <a:xfrm>
            <a:off x="548640" y="3383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8" name="Takeaway 3"/>
          <p:cNvSpPr txBox="1"/>
          <p:nvPr/>
        </p:nvSpPr>
        <p:spPr>
          <a:xfrm>
            <a:off x="1371600" y="33832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Great analysis starts with cleaning: splitting genres turned 9,827 titles into 25,552 rows.</a:t>
            </a:r>
            <a:endParaRPr lang="en-US" sz="17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Built with Pandas, Matplotlib and Seaborn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 Dark">
  <a:themeElements>
    <a:clrScheme name="Netflix Dark">
      <a:dk1>
        <a:srgbClr val="141414"/>
      </a:dk1>
      <a:lt1>
        <a:srgbClr val="FFFFFF"/>
      </a:lt1>
      <a:dk2>
        <a:srgbClr val="221F1F"/>
      </a:dk2>
      <a:lt2>
        <a:srgbClr val="F5F5F1"/>
      </a:lt2>
      <a:accent1>
        <a:srgbClr val="E50914"/>
      </a:accent1>
      <a:accent2>
        <a:srgbClr val="B20710"/>
      </a:accent2>
      <a:accent3>
        <a:srgbClr val="564D4D"/>
      </a:accent3>
      <a:accent4>
        <a:srgbClr val="831010"/>
      </a:accent4>
      <a:accent5>
        <a:srgbClr val="B3B3B3"/>
      </a:accent5>
      <a:accent6>
        <a:srgbClr val="808080"/>
      </a:accent6>
      <a:hlink>
        <a:srgbClr val="E50914"/>
      </a:hlink>
      <a:folHlink>
        <a:srgbClr val="B20710"/>
      </a:folHlink>
    </a:clrScheme>
    <a:fontScheme name="Netflix Dark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Popularity &amp; Genre Analysis</dc:title>
  <dc:subject>PptxGenJS Presentation</dc:subject>
  <dc:creator>PptxGenJS</dc:creator>
  <cp:lastModifiedBy>PptxGenJS</cp:lastModifiedBy>
  <cp:revision>1</cp:revision>
  <dcterms:created xsi:type="dcterms:W3CDTF">2026-10-03T10:56:57Z</dcterms:created>
  <dcterms:modified xsi:type="dcterms:W3CDTF">2026-10-03T10:56:57Z</dcterms:modified>
</cp:coreProperties>
</file>